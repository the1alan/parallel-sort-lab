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13232" y="594360"/>
            <a:ext cx="2286000" cy="329184"/>
          </a:xfrm>
          <a:prstGeom prst="roundRect">
            <a:avLst/>
          </a:prstGeom>
          <a:solidFill>
            <a:srgbClr val="243247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630936"/>
            <a:ext cx="213969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5EEAD4"/>
                </a:solidFill>
                <a:latin typeface="Aptos"/>
              </a:defRPr>
            </a:pPr>
            <a:r>
              <a:t>УЧЕБНЫЙ ПРОЕКТ  / 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61872"/>
            <a:ext cx="585216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3800" b="1">
                <a:solidFill>
                  <a:srgbClr val="F8FAFC"/>
                </a:solidFill>
                <a:latin typeface="Aptos"/>
              </a:defRPr>
            </a:pPr>
            <a:r>
              <a:t>PARALLEL</a:t>
            </a:r>
          </a:p>
          <a:p>
            <a:pPr algn="l">
              <a:spcAft>
                <a:spcPts val="400"/>
              </a:spcAft>
              <a:defRPr sz="3800" b="1">
                <a:solidFill>
                  <a:srgbClr val="F8FAFC"/>
                </a:solidFill>
                <a:latin typeface="Aptos"/>
              </a:defRPr>
            </a:pPr>
            <a:r>
              <a:t>SORT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834640"/>
            <a:ext cx="54864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5EEAD4"/>
                </a:solidFill>
                <a:latin typeface="Aptos"/>
              </a:defRPr>
            </a:pPr>
            <a:r>
              <a:t>Параллельные алгоритмы сортировки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74720"/>
            <a:ext cx="48463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B8C4D6"/>
                </a:solidFill>
                <a:latin typeface="Aptos"/>
              </a:defRPr>
            </a:pPr>
            <a:r>
              <a:t>Сравнение Merge Sort, Parallel Merge Sort и sorted()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B8C4D6"/>
                </a:solidFill>
                <a:latin typeface="Aptos"/>
              </a:defRPr>
            </a:pPr>
            <a:r>
              <a:t>через измерения, метрики и визуализацию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09744"/>
            <a:ext cx="1600200" cy="329184"/>
          </a:xfrm>
          <a:prstGeom prst="roundRect">
            <a:avLst/>
          </a:prstGeom>
          <a:solidFill>
            <a:srgbClr val="243247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846320"/>
            <a:ext cx="1453896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8FAFC"/>
                </a:solidFill>
                <a:latin typeface="Aptos"/>
              </a:defRPr>
            </a:pPr>
            <a:r>
              <a:t>5 УЧАСТНИКОВ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4809744"/>
            <a:ext cx="2331720" cy="329184"/>
          </a:xfrm>
          <a:prstGeom prst="roundRect">
            <a:avLst/>
          </a:prstGeom>
          <a:solidFill>
            <a:srgbClr val="243247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4846320"/>
            <a:ext cx="2185415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8FAFC"/>
                </a:solidFill>
                <a:latin typeface="Aptos"/>
              </a:defRPr>
            </a:pPr>
            <a:r>
              <a:t>TKINTER + MATPLOTLIB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925312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Сдача: 29 октября 2026</a:t>
            </a:r>
          </a:p>
        </p:txBody>
      </p:sp>
      <p:pic>
        <p:nvPicPr>
          <p:cNvPr id="13" name="Picture 12" descr="ap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166360" cy="3154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00800" y="4315968"/>
            <a:ext cx="516636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553712"/>
            <a:ext cx="44805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ОТ ИДЕИ — К ИЗМЕРЕНИЮ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919472"/>
            <a:ext cx="45262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Код • реальные тесты • CSV • графики • отчёт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01 / ПОСТАНОВКА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Три реализации — одна задача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Сортируем одинаковые массивы, измеряем полное время вызова и проверяем результат.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52044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74519"/>
            <a:ext cx="50292" cy="242316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29967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БАЗОВЫЙ АЛГОРИТМ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58568"/>
            <a:ext cx="313639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Merge Sort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697479"/>
            <a:ext cx="3136392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Собственная последовательная реализация.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O(n log n) по времени, O(n) дополнительной памяти.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874519"/>
            <a:ext cx="352044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874519"/>
            <a:ext cx="50292" cy="242316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029967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8AB4FF"/>
                </a:solidFill>
                <a:latin typeface="Aptos"/>
              </a:defRPr>
            </a:pPr>
            <a:r>
              <a:t>ЧТО ИССЛЕДУЕМ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58568"/>
            <a:ext cx="313639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Parallel Merge Sort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697479"/>
            <a:ext cx="3136392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Разбиение на p частей → отдельные процессы → слияние в главном процессе.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874519"/>
            <a:ext cx="3520440" cy="2423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1874519"/>
            <a:ext cx="50292" cy="2423160"/>
          </a:xfrm>
          <a:prstGeom prst="rect">
            <a:avLst/>
          </a:prstGeom>
          <a:solidFill>
            <a:srgbClr val="F8C66D"/>
          </a:solidFill>
          <a:ln w="12700">
            <a:solidFill>
              <a:srgbClr val="F8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2029967"/>
            <a:ext cx="313639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F8C66D"/>
                </a:solidFill>
                <a:latin typeface="Aptos"/>
              </a:defRPr>
            </a:pPr>
            <a:r>
              <a:t>ОРИЕНТИР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258568"/>
            <a:ext cx="313639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sorted()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697479"/>
            <a:ext cx="3136392" cy="1490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Встроенный высокооптимизированный Timsort. Практический эталон, а не наш алгоритм.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709160"/>
            <a:ext cx="10853928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4892040"/>
            <a:ext cx="2194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5EEAD4"/>
                </a:solidFill>
                <a:latin typeface="Aptos"/>
              </a:defRPr>
            </a:pPr>
            <a:r>
              <a:t>Критерий корректности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873752"/>
            <a:ext cx="78638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8FAFC"/>
                </a:solidFill>
                <a:latin typeface="Aptos"/>
              </a:defRPr>
            </a:pPr>
            <a:r>
              <a:t>Каждый результат должен совпадать с sorted(исходный_массив)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02 / АЛГОРИТМ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Merge Sort: «разделяй и властвуй»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Рекурсивное деление уменьшает размер задачи; слияние объединяет отсортированные части линейно.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65960"/>
            <a:ext cx="104241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2412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8  3  7  4  9  2  5  1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063240"/>
            <a:ext cx="42519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200400"/>
            <a:ext cx="4069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8  3  7  4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063240"/>
            <a:ext cx="4251960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3200400"/>
            <a:ext cx="406908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9  2  5  1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291840" y="2542032"/>
            <a:ext cx="2788920" cy="475488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80760" y="2542032"/>
            <a:ext cx="2743200" cy="475488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9536" y="3950208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5EEAD4"/>
                </a:solidFill>
                <a:latin typeface="Aptos"/>
              </a:defRPr>
            </a:pPr>
            <a:r>
              <a:t>Деление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297680"/>
            <a:ext cx="2834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до массивов длины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950208"/>
            <a:ext cx="3291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8AB4FF"/>
                </a:solidFill>
                <a:latin typeface="Aptos"/>
              </a:defRPr>
            </a:pPr>
            <a:r>
              <a:t>Рекурсивная сортировка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297680"/>
            <a:ext cx="374903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каждая половина сортируется отдельно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50208"/>
            <a:ext cx="19202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F8C66D"/>
                </a:solidFill>
                <a:latin typeface="Aptos"/>
              </a:defRPr>
            </a:pPr>
            <a:r>
              <a:t>Слияние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97680"/>
            <a:ext cx="2743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два указателя, линейный проход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010912"/>
            <a:ext cx="10424160" cy="594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100584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800" b="1">
                <a:solidFill>
                  <a:srgbClr val="F8FAFC"/>
                </a:solidFill>
                <a:latin typeface="Aptos"/>
              </a:defRPr>
            </a:pPr>
            <a:r>
              <a:t>Результат: 1  2  3  4  5  7  8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03 / АНАЛИЗ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Сложность: что гарантирует алгоритм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Скорость растёт не только от алгоритма, но и от реализации и накладных расходов среды.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04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401568" cy="187451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828800"/>
            <a:ext cx="50292" cy="1874519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84248"/>
            <a:ext cx="30175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ВРЕМЯ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301752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Временная сложность Merge Sort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в лучшем, среднем и худшем случаях.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401568" cy="187451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828800"/>
            <a:ext cx="50292" cy="1874519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0175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8AB4FF"/>
                </a:solidFill>
                <a:latin typeface="Aptos"/>
              </a:defRPr>
            </a:pPr>
            <a:r>
              <a:t>ПАМЯТЬ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212848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O(n)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51760"/>
            <a:ext cx="301752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Дополнительная память для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временных массивов при слиянии.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828800"/>
            <a:ext cx="3401568" cy="1874519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828800"/>
            <a:ext cx="50292" cy="1874519"/>
          </a:xfrm>
          <a:prstGeom prst="rect">
            <a:avLst/>
          </a:prstGeom>
          <a:solidFill>
            <a:srgbClr val="F8C66D"/>
          </a:solidFill>
          <a:ln w="12700">
            <a:solidFill>
              <a:srgbClr val="F8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6" y="1984248"/>
            <a:ext cx="30175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800" b="1">
                <a:solidFill>
                  <a:srgbClr val="F8C66D"/>
                </a:solidFill>
                <a:latin typeface="Aptos"/>
              </a:defRPr>
            </a:pPr>
            <a:r>
              <a:t>СВОЙСТВО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212848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Устойчивость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2651760"/>
            <a:ext cx="3017520" cy="94183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Равные элементы сохраняют порядок,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если при равенстве брать левую часть.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160520"/>
            <a:ext cx="10744200" cy="11155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407408"/>
            <a:ext cx="10195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5EEAD4"/>
                </a:solidFill>
                <a:latin typeface="Aptos"/>
              </a:defRPr>
            </a:pPr>
            <a:r>
              <a:t>T(n) = 2T(n/2) + O(n)  ⇒  T(n) = O(n log 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4882896"/>
            <a:ext cx="101955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Глубина рекурсии — log₂(n); суммарная работа каждого уровня слияния — O(n).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04 / ПАРАЛЛЕЛИЗМ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Как работает Parallel Merge Sort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Один пул процессов на вызов; финальное слияние в текущей реализации остаётся последовательным.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05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20574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5EEA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783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Входной массив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54096"/>
            <a:ext cx="1874519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850" b="0">
                <a:solidFill>
                  <a:srgbClr val="B8C4D6"/>
                </a:solidFill>
                <a:latin typeface="Aptos"/>
              </a:defRPr>
            </a:pPr>
            <a:r>
              <a:t>n элементов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2852928"/>
            <a:ext cx="182880" cy="0"/>
          </a:xfrm>
          <a:prstGeom prst="line">
            <a:avLst/>
          </a:prstGeom>
          <a:ln w="25400">
            <a:solidFill>
              <a:srgbClr val="5EE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063240" y="2286000"/>
            <a:ext cx="18288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42316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8AB4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97480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Разбиение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054096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850" b="0">
                <a:solidFill>
                  <a:srgbClr val="B8C4D6"/>
                </a:solidFill>
                <a:latin typeface="Aptos"/>
              </a:defRPr>
            </a:pPr>
            <a:r>
              <a:t>p частей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37759" y="2852928"/>
            <a:ext cx="320041" cy="0"/>
          </a:xfrm>
          <a:prstGeom prst="line">
            <a:avLst/>
          </a:prstGeom>
          <a:ln w="25400">
            <a:solidFill>
              <a:srgbClr val="8A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49240" y="2286000"/>
            <a:ext cx="201168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42316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8AB4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697480"/>
            <a:ext cx="17373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Процессы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79" y="3054096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850" b="0">
                <a:solidFill>
                  <a:srgbClr val="B8C4D6"/>
                </a:solidFill>
                <a:latin typeface="Aptos"/>
              </a:defRPr>
            </a:pPr>
            <a:r>
              <a:t>сортировка частей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06640" y="2852928"/>
            <a:ext cx="320040" cy="0"/>
          </a:xfrm>
          <a:prstGeom prst="line">
            <a:avLst/>
          </a:prstGeom>
          <a:ln w="25400">
            <a:solidFill>
              <a:srgbClr val="8A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18120" y="2286000"/>
            <a:ext cx="182880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242316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F8C66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2697480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Слияние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3054096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850" b="0">
                <a:solidFill>
                  <a:srgbClr val="B8C4D6"/>
                </a:solidFill>
                <a:latin typeface="Aptos"/>
              </a:defRPr>
            </a:pPr>
            <a:r>
              <a:t>дерево слияния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92640" y="2852928"/>
            <a:ext cx="228600" cy="0"/>
          </a:xfrm>
          <a:prstGeom prst="line">
            <a:avLst/>
          </a:prstGeom>
          <a:ln w="25400">
            <a:solidFill>
              <a:srgbClr val="F8C6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012680" y="2286000"/>
            <a:ext cx="150876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2423160"/>
            <a:ext cx="3200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900" b="1">
                <a:solidFill>
                  <a:srgbClr val="5EEA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2697480"/>
            <a:ext cx="123443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8FAFC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3054096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850" b="0">
                <a:solidFill>
                  <a:srgbClr val="B8C4D6"/>
                </a:solidFill>
                <a:latin typeface="Aptos"/>
              </a:defRPr>
            </a:pPr>
            <a:r>
              <a:t>отсортировано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160520"/>
            <a:ext cx="3401568" cy="11704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160520"/>
            <a:ext cx="50292" cy="117043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370832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Число процессов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4846320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workers = 1, 2, 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62272" y="4160520"/>
            <a:ext cx="3401568" cy="11704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62272" y="4160520"/>
            <a:ext cx="50292" cy="1170432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4370832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Порог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846320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малые массивы — последовательно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3024" y="4160520"/>
            <a:ext cx="3401568" cy="117043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93024" y="4160520"/>
            <a:ext cx="50292" cy="1170432"/>
          </a:xfrm>
          <a:prstGeom prst="rect">
            <a:avLst/>
          </a:prstGeom>
          <a:solidFill>
            <a:srgbClr val="F8C66D"/>
          </a:solidFill>
          <a:ln w="12700">
            <a:solidFill>
              <a:srgbClr val="F8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4370832"/>
            <a:ext cx="30175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Платформа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4846320"/>
            <a:ext cx="30175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spawn совместим с macOS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05 /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Параллелизм не бесплатный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Процессы дают возможность выполнять вычисления параллельно, но добавляют свои расходы.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06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212080" cy="12070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5EEAD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8"/>
            <a:ext cx="3931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Запуск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04872"/>
            <a:ext cx="402336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Создание процессов и их жизненный цикл.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828800"/>
            <a:ext cx="5212080" cy="12070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05740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8C66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29968"/>
            <a:ext cx="3931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Передача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404872"/>
            <a:ext cx="402336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Сериализация списков и передача данных через pickle.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5212080" cy="12070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3931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Слияние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13632"/>
            <a:ext cx="402336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Объединение частей выполняется в главном процессе.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337560"/>
            <a:ext cx="5212080" cy="120700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566160"/>
            <a:ext cx="502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8C66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538728"/>
            <a:ext cx="3931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500" b="1">
                <a:solidFill>
                  <a:srgbClr val="F8FAFC"/>
                </a:solidFill>
                <a:latin typeface="Aptos"/>
              </a:defRPr>
            </a:pPr>
            <a:r>
              <a:t>Ресурсы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913632"/>
            <a:ext cx="4023360" cy="4297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Если процессов больше CPU, они конкурируют за время процессора.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20640"/>
            <a:ext cx="10881360" cy="658368"/>
          </a:xfrm>
          <a:prstGeom prst="roundRect">
            <a:avLst/>
          </a:prstGeom>
          <a:solidFill>
            <a:srgbClr val="3B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330952"/>
            <a:ext cx="1042416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DA4AF"/>
                </a:solidFill>
                <a:latin typeface="Aptos"/>
              </a:defRPr>
            </a:pPr>
            <a:r>
              <a:t>По закону Амдала последовательная часть ограничивает теоретический выигрыш: S(p) ≤ 1 / (f + (1 − f) / 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06 / ЭКСПЕРИМЕНТ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Сравнение без подмены условий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Одинаковые данные, таймер высокой точности и проверка результата вне измеряемого времени.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07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48840"/>
            <a:ext cx="2057400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2350008"/>
            <a:ext cx="45720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45973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82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971800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Сгенерировать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383280"/>
            <a:ext cx="1737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Массив генерируется один раз.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0088" y="2148840"/>
            <a:ext cx="2057400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154680" y="2350008"/>
            <a:ext cx="457200" cy="457200"/>
          </a:xfrm>
          <a:prstGeom prst="round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54680" y="245973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82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971800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Измерить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383280"/>
            <a:ext cx="1737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time.perf_counter(); полный вызов сортировки.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94376" y="2148840"/>
            <a:ext cx="2057400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58968" y="2350008"/>
            <a:ext cx="457200" cy="457200"/>
          </a:xfrm>
          <a:prstGeom prst="round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58968" y="245973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82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8968" y="2971800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Повторить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383280"/>
            <a:ext cx="1737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3 повтора, итог — медиана.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98664" y="2148840"/>
            <a:ext cx="2057400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63256" y="2350008"/>
            <a:ext cx="457200" cy="4572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63256" y="245973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82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971800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Проверить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63256" y="3383280"/>
            <a:ext cx="1737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Сравнить с sorted(вход).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2952" y="2148840"/>
            <a:ext cx="2057400" cy="1965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67544" y="2350008"/>
            <a:ext cx="457200" cy="457200"/>
          </a:xfrm>
          <a:prstGeom prst="roundRect">
            <a:avLst/>
          </a:prstGeom>
          <a:solidFill>
            <a:srgbClr val="8A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7544" y="2459736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1182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67544" y="2971800"/>
            <a:ext cx="17373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8FAFC"/>
                </a:solidFill>
                <a:latin typeface="Aptos"/>
              </a:defRPr>
            </a:pPr>
            <a:r>
              <a:t>Сохранить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3383280"/>
            <a:ext cx="17373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CSV + графики времени, S и 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663440"/>
            <a:ext cx="10881360" cy="987552"/>
          </a:xfrm>
          <a:prstGeom prst="roundRect">
            <a:avLst/>
          </a:prstGeom>
          <a:solidFill>
            <a:srgbClr val="24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73752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5EEAD4"/>
                </a:solidFill>
                <a:latin typeface="Aptos"/>
              </a:defRPr>
            </a:pPr>
            <a:r>
              <a:t>Параметры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4837176"/>
            <a:ext cx="89611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F8FAFC"/>
                </a:solidFill>
                <a:latin typeface="Aptos"/>
              </a:defRPr>
            </a:pPr>
            <a:r>
              <a:t>random: 10k / 50k / 100k  •  sorted/reversed: 50k  •  3 повтора  •  p = 1 / 2 /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5239512"/>
            <a:ext cx="80467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S(p) = T_merge / T_parallel(p)     |     E(p) = S(p) / 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07 /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Что показали реальные измерения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Медиана времени, миллисекунды. Случайные данные, по 3 повтора; все результаты корректны.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08 / 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874519"/>
          <a:ext cx="102869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1874519"/>
                <a:gridCol w="2468880"/>
                <a:gridCol w="2377440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Размер n</a:t>
                      </a:r>
                    </a:p>
                  </a:txBody>
                  <a:tcPr anchor="ctr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Merge Sort</a:t>
                      </a:r>
                    </a:p>
                  </a:txBody>
                  <a:tcPr anchor="ctr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sorted()</a:t>
                      </a:r>
                    </a:p>
                  </a:txBody>
                  <a:tcPr anchor="ctr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Parallel p=2</a:t>
                      </a:r>
                    </a:p>
                  </a:txBody>
                  <a:tcPr anchor="ctr"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latin typeface="Aptos"/>
                        </a:rPr>
                        <a:t>Parallel p=4</a:t>
                      </a:r>
                    </a:p>
                  </a:txBody>
                  <a:tcPr anchor="ctr">
                    <a:solidFill>
                      <a:srgbClr val="5EEAD4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8FAFC"/>
                          </a:solidFill>
                          <a:latin typeface="Aptos"/>
                        </a:rPr>
                        <a:t>10 000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14.17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1.02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921.60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1684.18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8FAFC"/>
                          </a:solidFill>
                          <a:latin typeface="Aptos"/>
                        </a:rPr>
                        <a:t>50 000</a:t>
                      </a:r>
                    </a:p>
                  </a:txBody>
                  <a:tcPr anchor="ctr">
                    <a:solidFill>
                      <a:srgbClr val="24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82.61</a:t>
                      </a:r>
                    </a:p>
                  </a:txBody>
                  <a:tcPr anchor="ctr">
                    <a:solidFill>
                      <a:srgbClr val="24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6.13</a:t>
                      </a:r>
                    </a:p>
                  </a:txBody>
                  <a:tcPr anchor="ctr">
                    <a:solidFill>
                      <a:srgbClr val="24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733.87</a:t>
                      </a:r>
                    </a:p>
                  </a:txBody>
                  <a:tcPr anchor="ctr">
                    <a:solidFill>
                      <a:srgbClr val="2432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1469.59</a:t>
                      </a:r>
                    </a:p>
                  </a:txBody>
                  <a:tcPr anchor="ctr">
                    <a:solidFill>
                      <a:srgbClr val="243247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8FAFC"/>
                          </a:solidFill>
                          <a:latin typeface="Aptos"/>
                        </a:rPr>
                        <a:t>100 000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172.23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13.35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886.07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F8FAFC"/>
                          </a:solidFill>
                          <a:latin typeface="Aptos"/>
                        </a:rPr>
                        <a:t>1611.87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4572000"/>
            <a:ext cx="50749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4572000"/>
            <a:ext cx="50292" cy="1005840"/>
          </a:xfrm>
          <a:prstGeom prst="rect">
            <a:avLst/>
          </a:prstGeom>
          <a:solidFill>
            <a:srgbClr val="F8C66D"/>
          </a:solidFill>
          <a:ln w="12700">
            <a:solidFill>
              <a:srgbClr val="F8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4782312"/>
            <a:ext cx="46908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sorted() — быстрее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5257800"/>
            <a:ext cx="46908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При n = 100 000: 13,35 мс против 172,23 мс у Merge Sort.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4572000"/>
            <a:ext cx="507492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4572000"/>
            <a:ext cx="50292" cy="1005840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782312"/>
            <a:ext cx="46908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p = 2 и p = 4 — медленнее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257800"/>
            <a:ext cx="46908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Пул и передача данных доминируют на протестированных размерах.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08 / ВИЗУАЛИЗАЦИЯ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Время выполнения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Логарифмическая шкала показывает разницу между Python Merge Sort, sorted() и вызовом с новыми процессами.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09 / 12</a:t>
            </a:r>
          </a:p>
        </p:txBody>
      </p:sp>
      <p:pic>
        <p:nvPicPr>
          <p:cNvPr id="9" name="Picture 8" descr="time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10515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09 / МАСШТАБИРОВАНИЕ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Ускорение оказалось меньше единицы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Для данной реализации и стенда дополнительный процесс увеличил полное время вызова.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10 / 12</a:t>
            </a:r>
          </a:p>
        </p:txBody>
      </p:sp>
      <p:pic>
        <p:nvPicPr>
          <p:cNvPr id="9" name="Picture 8" descr="speedup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37360"/>
            <a:ext cx="5440680" cy="3749039"/>
          </a:xfrm>
          <a:prstGeom prst="rect">
            <a:avLst/>
          </a:prstGeom>
        </p:spPr>
      </p:pic>
      <p:pic>
        <p:nvPicPr>
          <p:cNvPr id="10" name="Picture 9" descr="efficiency_rand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37360"/>
            <a:ext cx="5257800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632704"/>
            <a:ext cx="10515600" cy="475488"/>
          </a:xfrm>
          <a:prstGeom prst="roundRect">
            <a:avLst/>
          </a:prstGeom>
          <a:solidFill>
            <a:srgbClr val="3B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769864"/>
            <a:ext cx="10149840" cy="210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DA4AF"/>
                </a:solidFill>
                <a:latin typeface="Aptos"/>
              </a:defRPr>
            </a:pPr>
            <a:r>
              <a:t>При n = 100 000: S(2) = 0.194; E(2) = 0.097. Значение S &lt; 1 означает замедление, а не ускорение.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10 / ПРОГРАММНАЯ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Интерфейс, тесты и экспорт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Пользователь задаёт эксперимент, видит таблицу, графики, корректность и выгружает CSV.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11 / 12</a:t>
            </a:r>
          </a:p>
        </p:txBody>
      </p:sp>
      <p:pic>
        <p:nvPicPr>
          <p:cNvPr id="9" name="Picture 8" descr="app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812280" cy="4160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818120" y="1810512"/>
            <a:ext cx="356616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1810512"/>
            <a:ext cx="50292" cy="9601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2020824"/>
            <a:ext cx="318211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32 автоматических теста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2496312"/>
            <a:ext cx="3182112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Запуск через unittest; GUI проверен в виртуальном дисплее.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953512"/>
            <a:ext cx="356616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2953512"/>
            <a:ext cx="50292" cy="960120"/>
          </a:xfrm>
          <a:prstGeom prst="rect">
            <a:avLst/>
          </a:prstGeom>
          <a:solidFill>
            <a:srgbClr val="8AB4FF"/>
          </a:solidFill>
          <a:ln w="12700">
            <a:solidFill>
              <a:srgbClr val="8A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3163824"/>
            <a:ext cx="318211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CSV + 3 графика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639312"/>
            <a:ext cx="3182112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Время, ускорение и эффективность; графики строятся из измерений.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096512"/>
            <a:ext cx="356616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4096512"/>
            <a:ext cx="50292" cy="960120"/>
          </a:xfrm>
          <a:prstGeom prst="rect">
            <a:avLst/>
          </a:prstGeom>
          <a:solidFill>
            <a:srgbClr val="F8C66D"/>
          </a:solidFill>
          <a:ln w="12700">
            <a:solidFill>
              <a:srgbClr val="F8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4306824"/>
            <a:ext cx="318211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25 строк результатов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4782312"/>
            <a:ext cx="3182112" cy="1737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Все выходы эксперимента совпали с sorted(вход).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897880"/>
            <a:ext cx="10515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Запуск: python3 main.py     •     Тесты: xvfb-run -a python3 -m unittest discover -s tests -v (Linux)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114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11 /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2900" b="1">
                <a:solidFill>
                  <a:srgbClr val="F8FAFC"/>
                </a:solidFill>
                <a:latin typeface="Aptos"/>
              </a:defRPr>
            </a:pPr>
            <a:r>
              <a:t>Результат исследования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7899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B8C4D6"/>
                </a:solidFill>
                <a:latin typeface="Aptos"/>
              </a:defRPr>
            </a:pPr>
            <a:r>
              <a:t>Параллельность — инструмент, а не гарантия ускорения.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6510528"/>
            <a:ext cx="10927080" cy="0"/>
          </a:xfrm>
          <a:prstGeom prst="line">
            <a:avLst/>
          </a:prstGeom>
          <a:ln w="12700">
            <a:solidFill>
              <a:srgbClr val="24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65392"/>
            <a:ext cx="73152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700" b="1">
                <a:solidFill>
                  <a:srgbClr val="B8C4D6"/>
                </a:solidFill>
                <a:latin typeface="Aptos"/>
              </a:defRPr>
            </a:pPr>
            <a:r>
              <a:t>PARALLEL SORT LAB  •  АЛГОРИТМЫ И СТРУКТУРЫ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47104"/>
            <a:ext cx="8686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400"/>
              </a:spcAft>
              <a:defRPr sz="800" b="1">
                <a:solidFill>
                  <a:srgbClr val="5EEAD4"/>
                </a:solidFill>
                <a:latin typeface="Aptos"/>
              </a:defRPr>
            </a:pPr>
            <a:r>
              <a:t>12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429000" cy="15727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50292" cy="1572768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39112"/>
            <a:ext cx="30449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1. Корректность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304495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Все 25 итоговых строк CSV содержат корректный результат.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15727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50292" cy="157276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0449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2. Накладные расходы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514600"/>
            <a:ext cx="304495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Запуск процессов и передача данных доминировали на выбранных размерах.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429000" cy="15727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50292" cy="1572768"/>
          </a:xfrm>
          <a:prstGeom prst="rect">
            <a:avLst/>
          </a:prstGeom>
          <a:solidFill>
            <a:srgbClr val="F8C66D"/>
          </a:solidFill>
          <a:ln w="12700">
            <a:solidFill>
              <a:srgbClr val="F8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2039112"/>
            <a:ext cx="30449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8FAFC"/>
                </a:solidFill>
                <a:latin typeface="Aptos"/>
              </a:defRPr>
            </a:pPr>
            <a:r>
              <a:t>3. Следующий шаг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514600"/>
            <a:ext cx="3044952" cy="7863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B8C4D6"/>
                </a:solidFill>
                <a:latin typeface="Aptos"/>
              </a:defRPr>
            </a:pPr>
            <a:r>
              <a:t>Повторить тест на целевом Mac и изучить переиспользование пула.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86200"/>
            <a:ext cx="10744200" cy="1325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4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114800"/>
            <a:ext cx="27432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1">
                <a:solidFill>
                  <a:srgbClr val="5EEAD4"/>
                </a:solidFill>
                <a:latin typeface="Aptos"/>
              </a:defRPr>
            </a:pPr>
            <a:r>
              <a:t>РАСПРЕДЕЛЕНИЕ ЗАЩИТЫ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498848"/>
            <a:ext cx="99669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F8FAFC"/>
                </a:solidFill>
                <a:latin typeface="Aptos"/>
              </a:defRPr>
            </a:pPr>
            <a:r>
              <a:t>У1 — архитектура и итоги   •   У2 — теория и Merge Sort   •   У3 — параллельная версия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8FAFC"/>
                </a:solidFill>
                <a:latin typeface="Aptos"/>
              </a:defRPr>
            </a:pPr>
            <a:r>
              <a:t>У4 — эксперимент и графики   •   У5 — интерфейс, тесты и инструкция запуска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5522976"/>
            <a:ext cx="103327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B8C4D6"/>
                </a:solidFill>
                <a:latin typeface="Aptos"/>
              </a:defRPr>
            </a:pPr>
            <a:r>
              <a:t>Ограничение: измерения выполнены в Linux-среде с 3 логическими CPU; значения зависят от оборудования.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Sort Lab — Параллельные алгоритмы сортировки</dc:title>
  <dc:subject>Учебный проект по алгоритмам и структурам данных</dc:subject>
  <dc:creator>Команда Parallel Sort Lab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